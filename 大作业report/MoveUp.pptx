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63" r:id="rId3"/>
    <p:sldId id="374" r:id="rId4"/>
    <p:sldId id="322" r:id="rId5"/>
    <p:sldId id="339" r:id="rId6"/>
    <p:sldId id="378" r:id="rId7"/>
    <p:sldId id="380" r:id="rId8"/>
    <p:sldId id="382" r:id="rId9"/>
    <p:sldId id="383" r:id="rId10"/>
    <p:sldId id="373" r:id="rId11"/>
    <p:sldId id="375" r:id="rId12"/>
    <p:sldId id="386" r:id="rId14"/>
    <p:sldId id="387" r:id="rId15"/>
    <p:sldId id="388" r:id="rId16"/>
    <p:sldId id="384" r:id="rId17"/>
    <p:sldId id="393" r:id="rId18"/>
    <p:sldId id="390" r:id="rId19"/>
    <p:sldId id="377" r:id="rId20"/>
    <p:sldId id="392" r:id="rId21"/>
    <p:sldId id="389" r:id="rId22"/>
    <p:sldId id="391" r:id="rId23"/>
    <p:sldId id="376" r:id="rId24"/>
  </p:sldIdLst>
  <p:sldSz cx="9144000" cy="5143500" type="screen16x9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6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24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2316" y="1794"/>
      </p:cViewPr>
      <p:guideLst>
        <p:guide orient="horz" pos="1566"/>
        <p:guide pos="295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B14B49EE-77F8-4FAE-8BA7-EE855931AD8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www.1ppt.com/moban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ev300-096.jpg"/>
          <p:cNvPicPr>
            <a:picLocks noChangeAspect="1" noChangeArrowheads="1"/>
          </p:cNvPicPr>
          <p:nvPr userDrawn="1"/>
        </p:nvPicPr>
        <p:blipFill>
          <a:blip r:embed="rId2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E978FB-4E86-4C82-98F3-82C6284A9E5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 userDrawn="1"/>
        </p:nvSpPr>
        <p:spPr bwMode="auto">
          <a:xfrm>
            <a:off x="2778125" y="2401888"/>
            <a:ext cx="35877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600">
                <a:solidFill>
                  <a:srgbClr val="4A452A"/>
                </a:solidFill>
              </a:rPr>
              <a:t>PPT</a:t>
            </a:r>
            <a:r>
              <a:rPr lang="zh-CN" altLang="en-US" sz="1600">
                <a:solidFill>
                  <a:srgbClr val="4A452A"/>
                </a:solidFill>
              </a:rPr>
              <a:t>模板下载：</a:t>
            </a:r>
            <a:r>
              <a:rPr lang="en-US" altLang="zh-CN" sz="1600">
                <a:solidFill>
                  <a:srgbClr val="4A452A"/>
                </a:solidFill>
                <a:hlinkClick r:id="rId2"/>
              </a:rPr>
              <a:t>www.1ppt.com/moban/</a:t>
            </a:r>
            <a:r>
              <a:rPr lang="en-US" altLang="zh-CN" sz="1600">
                <a:solidFill>
                  <a:srgbClr val="4A452A"/>
                </a:solidFill>
              </a:rPr>
              <a:t> </a:t>
            </a:r>
            <a:endParaRPr lang="zh-CN" altLang="en-US"/>
          </a:p>
        </p:txBody>
      </p:sp>
      <p:pic>
        <p:nvPicPr>
          <p:cNvPr id="3" name="图片 6" descr="949522_143908547111_2.jp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FA4378-9D60-470A-A88E-BB50657FE1A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7"/>
          <a:stretch>
            <a:fillRect/>
          </a:stretch>
        </p:blipFill>
        <p:spPr bwMode="auto">
          <a:xfrm>
            <a:off x="0" y="0"/>
            <a:ext cx="9144000" cy="514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43FBF3-0CDF-4D94-A9FB-4304DC89683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6" descr="Untitled-1.jpg"/>
          <p:cNvPicPr>
            <a:picLocks noChangeAspect="1" noChangeArrowheads="1"/>
          </p:cNvPicPr>
          <p:nvPr userDrawn="1"/>
        </p:nvPicPr>
        <p:blipFill>
          <a:blip r:embed="rId2">
            <a:lum contras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31439-0CFE-4D61-9672-D1755EB9956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FECF49-85D4-4BB3-A2EE-6A9255BC44E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noProof="1" smtClean="0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fld id="{16E5758D-A3C3-4E88-8AC0-22500507BD7E}" type="datetimeFigureOut">
              <a:rPr lang="zh-CN" altLang="en-US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noProof="1">
                <a:solidFill>
                  <a:prstClr val="black">
                    <a:tint val="75000"/>
                  </a:prst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F4137-ADBD-4CFA-B3CD-67FF32D5A11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4641FDB3-CB46-493B-89C5-ED41C01911E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1" Type="http://schemas.openxmlformats.org/officeDocument/2006/relationships/slideLayout" Target="../slideLayouts/slideLayout4.xml"/><Relationship Id="rId20" Type="http://schemas.openxmlformats.org/officeDocument/2006/relationships/image" Target="../media/image27.png"/><Relationship Id="rId2" Type="http://schemas.openxmlformats.org/officeDocument/2006/relationships/image" Target="../media/image9.png"/><Relationship Id="rId19" Type="http://schemas.openxmlformats.org/officeDocument/2006/relationships/image" Target="../media/image26.png"/><Relationship Id="rId18" Type="http://schemas.openxmlformats.org/officeDocument/2006/relationships/image" Target="../media/image25.png"/><Relationship Id="rId17" Type="http://schemas.openxmlformats.org/officeDocument/2006/relationships/image" Target="../media/image24.png"/><Relationship Id="rId16" Type="http://schemas.openxmlformats.org/officeDocument/2006/relationships/image" Target="../media/image23.png"/><Relationship Id="rId15" Type="http://schemas.openxmlformats.org/officeDocument/2006/relationships/image" Target="../media/image22.png"/><Relationship Id="rId14" Type="http://schemas.openxmlformats.org/officeDocument/2006/relationships/image" Target="../media/image21.png"/><Relationship Id="rId13" Type="http://schemas.openxmlformats.org/officeDocument/2006/relationships/image" Target="../media/image20.png"/><Relationship Id="rId12" Type="http://schemas.openxmlformats.org/officeDocument/2006/relationships/image" Target="../media/image19.png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7.png"/><Relationship Id="rId1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684213" y="2819400"/>
            <a:ext cx="7488237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854" y="3435668"/>
            <a:ext cx="241808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dist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600" b="1" kern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微软雅黑" panose="020B0503020204020204" pitchFamily="34" charset="-122"/>
              </a:rPr>
              <a:t>宣讲人：蔡燚翔，徐康勒</a:t>
            </a:r>
            <a:endParaRPr lang="zh-CN" altLang="en-US" sz="1600" b="1" kern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等腰三角形 11"/>
          <p:cNvSpPr/>
          <p:nvPr/>
        </p:nvSpPr>
        <p:spPr>
          <a:xfrm rot="10800000">
            <a:off x="7816850" y="2924175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77540" y="1707515"/>
            <a:ext cx="499491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期末</a:t>
            </a:r>
            <a:r>
              <a:rPr lang="zh-CN" altLang="en-US" sz="60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项目展示</a:t>
            </a:r>
            <a:endParaRPr lang="zh-CN" altLang="en-US" sz="60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pic>
        <p:nvPicPr>
          <p:cNvPr id="4" name="图片 3" descr="moveu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014730"/>
            <a:ext cx="3435985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605" y="699770"/>
            <a:ext cx="2932113" cy="8302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dist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4800" b="1" kern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CONTENTS</a:t>
            </a:r>
            <a:endParaRPr lang="en-US" altLang="zh-CN" sz="4800" b="1" kern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306388" y="1492250"/>
            <a:ext cx="3041015" cy="2857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等腰三角形 3"/>
          <p:cNvSpPr/>
          <p:nvPr/>
        </p:nvSpPr>
        <p:spPr>
          <a:xfrm rot="10800000">
            <a:off x="4271963" y="1628775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9220" name="矩形 6"/>
          <p:cNvSpPr>
            <a:spLocks noChangeArrowheads="1"/>
          </p:cNvSpPr>
          <p:nvPr/>
        </p:nvSpPr>
        <p:spPr bwMode="auto">
          <a:xfrm>
            <a:off x="3289300" y="1924050"/>
            <a:ext cx="4238625" cy="1938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项目设计与前端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开发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项目后端说明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AI 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以及部分</a:t>
            </a: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接口应用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运维与质量保障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buFont typeface="Arial" panose="020B0604020202020204" pitchFamily="34" charset="0"/>
              <a:buChar char="•"/>
            </a:pP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35047"/>
          <a:stretch>
            <a:fillRect/>
          </a:stretch>
        </p:blipFill>
        <p:spPr>
          <a:xfrm>
            <a:off x="0" y="1465053"/>
            <a:ext cx="11916816" cy="3678449"/>
          </a:xfrm>
          <a:prstGeom prst="rect">
            <a:avLst/>
          </a:prstGeom>
        </p:spPr>
      </p:pic>
      <p:sp>
        <p:nvSpPr>
          <p:cNvPr id="5" name="TextBox 2"/>
          <p:cNvSpPr>
            <a:spLocks noChangeArrowheads="1"/>
          </p:cNvSpPr>
          <p:nvPr/>
        </p:nvSpPr>
        <p:spPr bwMode="auto">
          <a:xfrm>
            <a:off x="-36513" y="2409825"/>
            <a:ext cx="4464051" cy="1365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项目设计与前端开发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55563" y="3563938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95288" y="3068638"/>
            <a:ext cx="3168650" cy="2238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斜纹 13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标题 1"/>
          <p:cNvSpPr txBox="1"/>
          <p:nvPr/>
        </p:nvSpPr>
        <p:spPr>
          <a:xfrm>
            <a:off x="0" y="411480"/>
            <a:ext cx="243014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Figma设计UI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" y="4299585"/>
            <a:ext cx="8625840" cy="252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zh-CN" sz="105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https://www.figma.com/design/IKpsxQMrrc4alOJIQWFdDe/Move-Up</a:t>
            </a:r>
            <a:endParaRPr kumimoji="1" lang="en-US" altLang="zh-CN" sz="105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1275715"/>
            <a:ext cx="5146675" cy="286766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507990" y="1275715"/>
            <a:ext cx="3048000" cy="2515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</a:pPr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主界面（整体导航入口）</a:t>
            </a: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用户认证：登录界面、注册界面</a:t>
            </a: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个人中心：我的界面（信息修改）</a:t>
            </a: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运动追踪：实时跑步追踪界面、跑步数据展示界面、历史记录界面</a:t>
            </a: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 助手：AI 对话界面、AI 跑步小助手界面</a:t>
            </a: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社区与计划：社区界面、跑步计划界面、社区搜索界面</a:t>
            </a: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buClrTx/>
              <a:buSzTx/>
            </a:pPr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共计 12 个核心界面，全部完成布局与视觉排版。</a:t>
            </a:r>
            <a:endParaRPr kumimoji="1" lang="en-US" altLang="zh-CN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9045" y="701040"/>
            <a:ext cx="1264920" cy="1924050"/>
          </a:xfrm>
          <a:prstGeom prst="rect">
            <a:avLst/>
          </a:prstGeom>
        </p:spPr>
      </p:pic>
      <p:sp>
        <p:nvSpPr>
          <p:cNvPr id="23" name="标题 1"/>
          <p:cNvSpPr txBox="1"/>
          <p:nvPr/>
        </p:nvSpPr>
        <p:spPr>
          <a:xfrm>
            <a:off x="0" y="51435"/>
            <a:ext cx="378650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Android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原生态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+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Java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699770"/>
            <a:ext cx="911225" cy="19253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723900"/>
            <a:ext cx="945515" cy="19215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723900"/>
            <a:ext cx="919480" cy="192659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010" y="723900"/>
            <a:ext cx="934085" cy="19443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555" y="755650"/>
            <a:ext cx="919480" cy="19310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6460" y="829945"/>
            <a:ext cx="934085" cy="19469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4840" y="808990"/>
            <a:ext cx="941705" cy="196786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370" y="2875915"/>
            <a:ext cx="932180" cy="19329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940" y="2889250"/>
            <a:ext cx="918845" cy="19278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35785" y="2889250"/>
            <a:ext cx="907415" cy="19367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5875" y="2875915"/>
            <a:ext cx="928370" cy="19869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4720" y="2844165"/>
            <a:ext cx="948055" cy="19996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7855" y="2898775"/>
            <a:ext cx="949325" cy="19640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95595" y="2860040"/>
            <a:ext cx="932815" cy="18796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4760" y="2860040"/>
            <a:ext cx="908685" cy="193738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283835" y="755650"/>
            <a:ext cx="993775" cy="201803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68415" y="843915"/>
            <a:ext cx="868045" cy="1856105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301230" y="2869565"/>
            <a:ext cx="998220" cy="204025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66430" y="2917190"/>
            <a:ext cx="94615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35047"/>
          <a:stretch>
            <a:fillRect/>
          </a:stretch>
        </p:blipFill>
        <p:spPr>
          <a:xfrm>
            <a:off x="0" y="1465053"/>
            <a:ext cx="11916816" cy="3678449"/>
          </a:xfrm>
          <a:prstGeom prst="rect">
            <a:avLst/>
          </a:prstGeom>
        </p:spPr>
      </p:pic>
      <p:sp>
        <p:nvSpPr>
          <p:cNvPr id="5" name="TextBox 2"/>
          <p:cNvSpPr>
            <a:spLocks noChangeArrowheads="1"/>
          </p:cNvSpPr>
          <p:nvPr/>
        </p:nvSpPr>
        <p:spPr bwMode="auto">
          <a:xfrm>
            <a:off x="-36513" y="2409825"/>
            <a:ext cx="4464051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后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端说明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55563" y="3563938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/>
          </a:p>
        </p:txBody>
      </p:sp>
      <p:sp>
        <p:nvSpPr>
          <p:cNvPr id="8" name="矩形 7"/>
          <p:cNvSpPr/>
          <p:nvPr/>
        </p:nvSpPr>
        <p:spPr>
          <a:xfrm>
            <a:off x="395288" y="3068638"/>
            <a:ext cx="3168650" cy="2238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262890" y="339090"/>
            <a:ext cx="8618220" cy="1028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/>
              <a:t>1. </a:t>
            </a:r>
            <a:r>
              <a:rPr lang="zh-CN" altLang="en-US" sz="1200"/>
              <a:t>架构设计</a:t>
            </a:r>
            <a:endParaRPr lang="en-US" altLang="zh-CN" sz="1200"/>
          </a:p>
          <a:p>
            <a:r>
              <a:rPr lang="en-US" altLang="zh-CN" sz="1200"/>
              <a:t>  - </a:t>
            </a:r>
            <a:r>
              <a:rPr lang="zh-CN" altLang="en-US" sz="1200"/>
              <a:t>分层架构：</a:t>
            </a:r>
            <a:r>
              <a:rPr lang="en-US" altLang="zh-CN" sz="1200"/>
              <a:t>Controller </a:t>
            </a:r>
            <a:r>
              <a:rPr lang="en-US" altLang="en-US" sz="1200"/>
              <a:t>→</a:t>
            </a:r>
            <a:r>
              <a:rPr lang="en-US" altLang="zh-CN" sz="1200"/>
              <a:t> Service </a:t>
            </a:r>
            <a:r>
              <a:rPr lang="en-US" altLang="en-US" sz="1200"/>
              <a:t>→</a:t>
            </a:r>
            <a:r>
              <a:rPr lang="en-US" altLang="zh-CN" sz="1200"/>
              <a:t> Repository </a:t>
            </a:r>
            <a:r>
              <a:rPr lang="en-US" altLang="en-US" sz="1200"/>
              <a:t>→</a:t>
            </a:r>
            <a:r>
              <a:rPr lang="en-US" altLang="zh-CN" sz="1200"/>
              <a:t> Model</a:t>
            </a:r>
            <a:r>
              <a:rPr lang="zh-CN" altLang="en-US" sz="1200"/>
              <a:t>，每层职责清晰</a:t>
            </a:r>
            <a:endParaRPr lang="zh-CN" altLang="en-US" sz="1200"/>
          </a:p>
          <a:p>
            <a:r>
              <a:rPr lang="en-US" altLang="zh-CN" sz="1200"/>
              <a:t>  - </a:t>
            </a:r>
            <a:r>
              <a:rPr lang="zh-CN" altLang="en-US" sz="1200"/>
              <a:t>手动依赖注入：</a:t>
            </a:r>
            <a:r>
              <a:rPr lang="en-US" altLang="zh-CN" sz="1200"/>
              <a:t>app.ts </a:t>
            </a:r>
            <a:r>
              <a:rPr lang="zh-CN" altLang="en-US" sz="1200"/>
              <a:t>中组装依赖链。</a:t>
            </a:r>
            <a:endParaRPr lang="zh-CN" altLang="en-US" sz="1200"/>
          </a:p>
          <a:p>
            <a:r>
              <a:rPr lang="en-US" altLang="zh-CN" sz="1200"/>
              <a:t>  - </a:t>
            </a:r>
            <a:r>
              <a:rPr lang="zh-CN" altLang="en-US" sz="1200"/>
              <a:t>模块化：</a:t>
            </a:r>
            <a:r>
              <a:rPr lang="en-US" altLang="zh-CN" sz="1200"/>
              <a:t>7 </a:t>
            </a:r>
            <a:r>
              <a:rPr lang="zh-CN" altLang="en-US" sz="1200"/>
              <a:t>个业务模块独立，每个含</a:t>
            </a:r>
            <a:r>
              <a:rPr lang="en-US" altLang="zh-CN" sz="1200"/>
              <a:t> controller/service/repository/model/types</a:t>
            </a:r>
            <a:endParaRPr lang="en-US" altLang="zh-CN" sz="1200"/>
          </a:p>
        </p:txBody>
      </p:sp>
      <p:sp>
        <p:nvSpPr>
          <p:cNvPr id="4" name="文本框 3"/>
          <p:cNvSpPr txBox="1"/>
          <p:nvPr/>
        </p:nvSpPr>
        <p:spPr>
          <a:xfrm>
            <a:off x="262890" y="1203325"/>
            <a:ext cx="8110220" cy="11518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/>
              <a:t>2. </a:t>
            </a:r>
            <a:r>
              <a:rPr lang="zh-CN" altLang="en-US" sz="1200"/>
              <a:t>数据库设计</a:t>
            </a:r>
            <a:endParaRPr lang="en-US" altLang="zh-CN" sz="1200"/>
          </a:p>
          <a:p>
            <a:r>
              <a:rPr lang="en-US" altLang="zh-CN" sz="1200"/>
              <a:t>  - 29 </a:t>
            </a:r>
            <a:r>
              <a:rPr lang="zh-CN" altLang="en-US" sz="1200"/>
              <a:t>张表，涵盖用户、运动、社交、社团、训练计划</a:t>
            </a:r>
            <a:endParaRPr lang="zh-CN" altLang="en-US" sz="1200"/>
          </a:p>
          <a:p>
            <a:r>
              <a:rPr lang="en-US" altLang="zh-CN" sz="1200"/>
              <a:t>  - 16 </a:t>
            </a:r>
            <a:r>
              <a:rPr lang="zh-CN" altLang="en-US" sz="1200"/>
              <a:t>个</a:t>
            </a:r>
            <a:r>
              <a:rPr lang="en-US" altLang="zh-CN" sz="1200"/>
              <a:t> Knex </a:t>
            </a:r>
            <a:r>
              <a:rPr lang="zh-CN" altLang="en-US" sz="1200"/>
              <a:t>迁移脚本，版本化管理结构变更</a:t>
            </a:r>
            <a:endParaRPr lang="zh-CN" altLang="en-US" sz="1200"/>
          </a:p>
          <a:p>
            <a:r>
              <a:rPr lang="en-US" altLang="zh-CN" sz="1200"/>
              <a:t>  - UUID </a:t>
            </a:r>
            <a:r>
              <a:rPr lang="zh-CN" altLang="en-US" sz="1200"/>
              <a:t>主键、</a:t>
            </a:r>
            <a:r>
              <a:rPr lang="en-US" altLang="zh-CN" sz="1200"/>
              <a:t>TIMESTAMPTZ </a:t>
            </a:r>
            <a:r>
              <a:rPr lang="zh-CN" altLang="en-US" sz="1200"/>
              <a:t>时间、适当索引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323850" y="3363595"/>
            <a:ext cx="7402195" cy="14262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200"/>
              <a:t>4</a:t>
            </a:r>
            <a:r>
              <a:rPr lang="zh-CN" altLang="en-US" sz="1200"/>
              <a:t>、工程实践：测试</a:t>
            </a:r>
            <a:r>
              <a:rPr lang="en-US" altLang="zh-CN" sz="1200"/>
              <a:t> + CI/CD + </a:t>
            </a:r>
            <a:r>
              <a:rPr lang="zh-CN" altLang="en-US" sz="1200"/>
              <a:t>容器化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  - 20 </a:t>
            </a:r>
            <a:r>
              <a:rPr lang="zh-CN" altLang="en-US" sz="1200"/>
              <a:t>个测试文件</a:t>
            </a:r>
            <a:r>
              <a:rPr lang="en-US" altLang="zh-CN" sz="1200"/>
              <a:t> 300+ </a:t>
            </a:r>
            <a:r>
              <a:rPr lang="zh-CN" altLang="en-US" sz="1200"/>
              <a:t>用例，覆盖率</a:t>
            </a:r>
            <a:r>
              <a:rPr lang="en-US" altLang="zh-CN" sz="1200"/>
              <a:t> 80%</a:t>
            </a:r>
            <a:r>
              <a:rPr lang="zh-CN" altLang="en-US" sz="1200"/>
              <a:t>以上</a:t>
            </a:r>
            <a:endParaRPr lang="en-US" altLang="zh-CN" sz="1200"/>
          </a:p>
          <a:p>
            <a:r>
              <a:rPr lang="en-US" altLang="zh-CN" sz="1200"/>
              <a:t>  - GitHub Actions </a:t>
            </a:r>
            <a:r>
              <a:rPr lang="zh-CN" altLang="en-US" sz="1200"/>
              <a:t>自动跑测试、安全扫描、上报</a:t>
            </a:r>
            <a:r>
              <a:rPr lang="en-US" altLang="zh-CN" sz="1200"/>
              <a:t> Codecov</a:t>
            </a:r>
            <a:endParaRPr lang="en-US" altLang="zh-CN" sz="1200"/>
          </a:p>
          <a:p>
            <a:r>
              <a:rPr lang="en-US" altLang="zh-CN" sz="1200"/>
              <a:t>  - Docker </a:t>
            </a:r>
            <a:r>
              <a:rPr lang="zh-CN" altLang="en-US" sz="1200"/>
              <a:t>多阶段构建（构建镜像大</a:t>
            </a:r>
            <a:r>
              <a:rPr lang="en-US" altLang="zh-CN" sz="1200"/>
              <a:t> </a:t>
            </a:r>
            <a:r>
              <a:rPr lang="en-US" altLang="en-US" sz="1200"/>
              <a:t>→</a:t>
            </a:r>
            <a:r>
              <a:rPr lang="en-US" altLang="zh-CN" sz="1200"/>
              <a:t> </a:t>
            </a:r>
            <a:r>
              <a:rPr lang="zh-CN" altLang="en-US" sz="1200"/>
              <a:t>运行镜像小）</a:t>
            </a:r>
            <a:endParaRPr lang="zh-CN" altLang="en-US" sz="1200"/>
          </a:p>
          <a:p>
            <a:r>
              <a:rPr lang="en-US" altLang="zh-CN" sz="1200"/>
              <a:t>  - Render </a:t>
            </a:r>
            <a:r>
              <a:rPr lang="zh-CN" altLang="en-US" sz="1200"/>
              <a:t>云端部署</a:t>
            </a:r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262890" y="2120900"/>
            <a:ext cx="7547610" cy="12426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 sz="1200"/>
          </a:p>
          <a:p>
            <a:r>
              <a:rPr lang="en-US" altLang="zh-CN" sz="1200"/>
              <a:t> 3</a:t>
            </a:r>
            <a:r>
              <a:rPr lang="zh-CN" altLang="en-US" sz="1200"/>
              <a:t>、</a:t>
            </a:r>
            <a:r>
              <a:rPr lang="en-US" altLang="zh-CN" sz="1200"/>
              <a:t>AI </a:t>
            </a:r>
            <a:r>
              <a:rPr lang="zh-CN" altLang="en-US" sz="1200"/>
              <a:t>集成：双模型</a:t>
            </a:r>
            <a:r>
              <a:rPr lang="en-US" altLang="zh-CN" sz="1200"/>
              <a:t> + Prompt </a:t>
            </a:r>
            <a:r>
              <a:rPr lang="zh-CN" altLang="en-US" sz="1200"/>
              <a:t>工程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  - DeepSeek </a:t>
            </a:r>
            <a:r>
              <a:rPr lang="zh-CN" altLang="en-US" sz="1200"/>
              <a:t>做运动数据分析（单次总结</a:t>
            </a:r>
            <a:r>
              <a:rPr lang="en-US" altLang="zh-CN" sz="1200"/>
              <a:t> / </a:t>
            </a:r>
            <a:r>
              <a:rPr lang="zh-CN" altLang="en-US" sz="1200"/>
              <a:t>历史汇总），结构化</a:t>
            </a:r>
            <a:r>
              <a:rPr lang="en-US" altLang="zh-CN" sz="1200"/>
              <a:t> JSON </a:t>
            </a:r>
            <a:r>
              <a:rPr lang="zh-CN" altLang="en-US" sz="1200"/>
              <a:t>输出</a:t>
            </a:r>
            <a:endParaRPr lang="zh-CN" altLang="en-US" sz="1200"/>
          </a:p>
          <a:p>
            <a:r>
              <a:rPr lang="en-US" altLang="zh-CN" sz="1200"/>
              <a:t>  - </a:t>
            </a:r>
            <a:r>
              <a:rPr lang="zh-CN" altLang="en-US" sz="1200"/>
              <a:t>通义千问</a:t>
            </a:r>
            <a:r>
              <a:rPr lang="en-US" altLang="zh-CN" sz="1200"/>
              <a:t> Qwen 2.5 7B </a:t>
            </a:r>
            <a:r>
              <a:rPr lang="zh-CN" altLang="en-US" sz="1200"/>
              <a:t>做跑步语音助手，带</a:t>
            </a:r>
            <a:r>
              <a:rPr lang="en-US" altLang="zh-CN" sz="1200"/>
              <a:t> System Prompt </a:t>
            </a:r>
            <a:r>
              <a:rPr lang="zh-CN" altLang="en-US" sz="1200"/>
              <a:t>角色设定</a:t>
            </a:r>
            <a:endParaRPr lang="zh-CN" altLang="en-US" sz="1200"/>
          </a:p>
          <a:p>
            <a:r>
              <a:rPr lang="en-US" altLang="zh-CN" sz="1200"/>
              <a:t>  - llm.ts </a:t>
            </a:r>
            <a:r>
              <a:rPr lang="zh-CN" altLang="en-US" sz="1200"/>
              <a:t>统一封装</a:t>
            </a:r>
            <a:r>
              <a:rPr lang="en-US" altLang="zh-CN" sz="1200"/>
              <a:t> API </a:t>
            </a:r>
            <a:r>
              <a:rPr lang="zh-CN" altLang="en-US" sz="1200"/>
              <a:t>调用，支持多模型切换</a:t>
            </a:r>
            <a:endParaRPr lang="zh-CN" altLang="en-US" sz="12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389" t="11133" r="6423" b="16200"/>
          <a:stretch>
            <a:fillRect/>
          </a:stretch>
        </p:blipFill>
        <p:spPr>
          <a:xfrm>
            <a:off x="4211955" y="3651885"/>
            <a:ext cx="2787650" cy="14103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r="1672" b="19206"/>
          <a:stretch>
            <a:fillRect/>
          </a:stretch>
        </p:blipFill>
        <p:spPr>
          <a:xfrm>
            <a:off x="3980815" y="1203325"/>
            <a:ext cx="1795780" cy="13468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605" y="267335"/>
            <a:ext cx="1889125" cy="18008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r="22640"/>
          <a:stretch>
            <a:fillRect/>
          </a:stretch>
        </p:blipFill>
        <p:spPr>
          <a:xfrm>
            <a:off x="6084570" y="2211705"/>
            <a:ext cx="2664460" cy="78041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310" y="3135630"/>
            <a:ext cx="4368800" cy="4318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3867785"/>
            <a:ext cx="2957195" cy="672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35047"/>
          <a:stretch>
            <a:fillRect/>
          </a:stretch>
        </p:blipFill>
        <p:spPr>
          <a:xfrm>
            <a:off x="0" y="1465053"/>
            <a:ext cx="11916816" cy="3678449"/>
          </a:xfrm>
          <a:prstGeom prst="rect">
            <a:avLst/>
          </a:prstGeom>
        </p:spPr>
      </p:pic>
      <p:sp>
        <p:nvSpPr>
          <p:cNvPr id="5" name="TextBox 2"/>
          <p:cNvSpPr>
            <a:spLocks noChangeArrowheads="1"/>
          </p:cNvSpPr>
          <p:nvPr/>
        </p:nvSpPr>
        <p:spPr bwMode="auto">
          <a:xfrm>
            <a:off x="-36513" y="2409825"/>
            <a:ext cx="4464051" cy="7372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以及部分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接口应用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55563" y="3563938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/>
          </a:p>
        </p:txBody>
      </p:sp>
      <p:sp>
        <p:nvSpPr>
          <p:cNvPr id="8" name="矩形 7"/>
          <p:cNvSpPr/>
          <p:nvPr/>
        </p:nvSpPr>
        <p:spPr>
          <a:xfrm>
            <a:off x="395288" y="3068638"/>
            <a:ext cx="3168650" cy="2238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斜纹 23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标题 1"/>
          <p:cNvSpPr txBox="1"/>
          <p:nvPr/>
        </p:nvSpPr>
        <p:spPr>
          <a:xfrm>
            <a:off x="0" y="411480"/>
            <a:ext cx="203263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AI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接口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调用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26" name="对角圆角矩形 25"/>
          <p:cNvSpPr/>
          <p:nvPr/>
        </p:nvSpPr>
        <p:spPr>
          <a:xfrm>
            <a:off x="467360" y="1059180"/>
            <a:ext cx="3268345" cy="1299845"/>
          </a:xfrm>
          <a:prstGeom prst="round2DiagRect">
            <a:avLst>
              <a:gd name="adj1" fmla="val 38889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</a:rPr>
              <a:t>Deepseek</a:t>
            </a:r>
            <a:endParaRPr lang="en-US" altLang="zh-CN" sz="40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</a:rPr>
              <a:t>https://api.deepseek.com</a:t>
            </a:r>
            <a:endParaRPr lang="en-US" altLang="zh-CN" sz="110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对角圆角矩形 1"/>
          <p:cNvSpPr/>
          <p:nvPr/>
        </p:nvSpPr>
        <p:spPr>
          <a:xfrm>
            <a:off x="3275330" y="2427605"/>
            <a:ext cx="1416685" cy="1351915"/>
          </a:xfrm>
          <a:prstGeom prst="round2DiagRect">
            <a:avLst>
              <a:gd name="adj1" fmla="val 38889"/>
              <a:gd name="adj2" fmla="val 0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连不上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报错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限流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密钥无效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2045" y="2499360"/>
            <a:ext cx="3556000" cy="2029460"/>
          </a:xfrm>
          <a:prstGeom prst="rect">
            <a:avLst/>
          </a:prstGeom>
        </p:spPr>
      </p:pic>
      <p:sp>
        <p:nvSpPr>
          <p:cNvPr id="3" name="对角圆角矩形 2"/>
          <p:cNvSpPr/>
          <p:nvPr/>
        </p:nvSpPr>
        <p:spPr>
          <a:xfrm>
            <a:off x="3923665" y="1059180"/>
            <a:ext cx="4485005" cy="1243330"/>
          </a:xfrm>
          <a:prstGeom prst="round2DiagRect">
            <a:avLst>
              <a:gd name="adj1" fmla="val 38889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3200" b="1" dirty="0">
                <a:solidFill>
                  <a:schemeClr val="accent5">
                    <a:lumMod val="50000"/>
                  </a:schemeClr>
                </a:solidFill>
                <a:sym typeface="+mn-ea"/>
              </a:rPr>
              <a:t>Qwen2.5-7B-Instruct</a:t>
            </a:r>
            <a:endParaRPr lang="en-US" altLang="zh-CN" sz="3200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sym typeface="+mn-ea"/>
              </a:rPr>
              <a:t>https://api.siliconflow.cn</a:t>
            </a:r>
            <a:endParaRPr lang="en-US" altLang="zh-CN" sz="1100" dirty="0">
              <a:solidFill>
                <a:schemeClr val="accent5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7585" y="565785"/>
            <a:ext cx="52755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llm.ts 统一封装 API 调用，支持多模型切换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411480"/>
            <a:ext cx="544131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定位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追踪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 和 实时天气获取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7315" y="1059180"/>
            <a:ext cx="868743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1.高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频刷新：让定位引擎每 2 秒就会回调一次用户的最新坐标。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2.轨迹绘制：计算真实移动距离后，调用高德地图API实时绘制出一条荧光绿色的跑步轨迹线，在跑步结束后调用Android 原生 Canvas 画线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3.地理逆编码：高德 API 能够详细位置信息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4.实时天气获取：Open-Meteo API 的轻量级调用，通过定位获取的经纬度，向 https://api.open-meteo.com/v1/forecast 发起了一个 GET 请求。（这是一个开源且无需 API Key 的天气接口）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0" y="2643505"/>
            <a:ext cx="4208780" cy="21767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411480"/>
            <a:ext cx="4423410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AI语音智能助手（凑企鹅）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705" y="1447800"/>
            <a:ext cx="2174240" cy="217424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585" y="1471295"/>
            <a:ext cx="3943985" cy="21507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99160" y="3763010"/>
            <a:ext cx="728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常态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75330" y="3763010"/>
            <a:ext cx="1826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刚登录的</a:t>
            </a:r>
            <a:r>
              <a:rPr lang="zh-CN" altLang="en-US"/>
              <a:t>状态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084570" y="3796030"/>
            <a:ext cx="1593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听取录音</a:t>
            </a:r>
            <a:r>
              <a:rPr lang="zh-CN" altLang="en-US"/>
              <a:t>状态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845" y="1419860"/>
            <a:ext cx="2738120" cy="20878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010785" y="64643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en-US" altLang="zh-CN"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System Prompt 角色设定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411480"/>
            <a:ext cx="3605530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AI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跑步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助手（凑企鹅）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39115" y="1851025"/>
            <a:ext cx="42862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调用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Android 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系统原生的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SpeechRecognizer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336040" y="1347470"/>
            <a:ext cx="33515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长按凑企鹅进入语音输入模式</a:t>
            </a:r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115" y="990600"/>
            <a:ext cx="777240" cy="77724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611505" y="3107055"/>
            <a:ext cx="26644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自动语音播报的触发频率：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开跑启动2 秒后</a:t>
            </a:r>
            <a:b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</a:b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每整 1 公里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每间隔 30 秒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1505" y="2195830"/>
            <a:ext cx="36766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打包速度，路程，当前定位发送至在Render部署的后端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539115" y="2787650"/>
            <a:ext cx="37934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调用原生的 Android 引擎TextToSpeech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428625"/>
            <a:ext cx="1426210" cy="269621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125" y="411480"/>
            <a:ext cx="1327150" cy="269557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6443980" y="3219450"/>
            <a:ext cx="20516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智能AI语音聊天对话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900" y="3579495"/>
            <a:ext cx="4077970" cy="1311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411480"/>
            <a:ext cx="2002790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ea"/>
            </a:endParaRPr>
          </a:p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AI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对话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助手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algn="r" fontAlgn="auto">
              <a:spcAft>
                <a:spcPts val="0"/>
              </a:spcAft>
              <a:buFontTx/>
              <a:buNone/>
              <a:defRPr/>
            </a:pP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880" y="123190"/>
            <a:ext cx="2268220" cy="477774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23215" y="1923415"/>
            <a:ext cx="349567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点击首页后进入对话，可以进行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相关的询问，同时存储了用户当前 / 历史输入的文本和 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AI 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之前的回复，可以进行持续化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对话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7030" y="123190"/>
            <a:ext cx="2370455" cy="4770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35047"/>
          <a:stretch>
            <a:fillRect/>
          </a:stretch>
        </p:blipFill>
        <p:spPr>
          <a:xfrm>
            <a:off x="0" y="1465053"/>
            <a:ext cx="11916816" cy="3678449"/>
          </a:xfrm>
          <a:prstGeom prst="rect">
            <a:avLst/>
          </a:prstGeom>
        </p:spPr>
      </p:pic>
      <p:sp>
        <p:nvSpPr>
          <p:cNvPr id="5" name="TextBox 2"/>
          <p:cNvSpPr>
            <a:spLocks noChangeArrowheads="1"/>
          </p:cNvSpPr>
          <p:nvPr/>
        </p:nvSpPr>
        <p:spPr bwMode="auto">
          <a:xfrm>
            <a:off x="-36513" y="2409825"/>
            <a:ext cx="4464051" cy="1470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项目运维与质量保障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55563" y="3563938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/>
          </a:p>
        </p:txBody>
      </p:sp>
      <p:sp>
        <p:nvSpPr>
          <p:cNvPr id="8" name="矩形 7"/>
          <p:cNvSpPr/>
          <p:nvPr/>
        </p:nvSpPr>
        <p:spPr>
          <a:xfrm>
            <a:off x="395288" y="3068638"/>
            <a:ext cx="3168650" cy="2238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5">
                <a:tint val="45000"/>
                <a:satMod val="400000"/>
              </a:schemeClr>
            </a:duotone>
          </a:blip>
          <a:srcRect r="35047"/>
          <a:stretch>
            <a:fillRect/>
          </a:stretch>
        </p:blipFill>
        <p:spPr>
          <a:xfrm>
            <a:off x="0" y="1465053"/>
            <a:ext cx="11916816" cy="3678449"/>
          </a:xfrm>
          <a:prstGeom prst="rect">
            <a:avLst/>
          </a:prstGeom>
        </p:spPr>
      </p:pic>
      <p:sp>
        <p:nvSpPr>
          <p:cNvPr id="5" name="TextBox 2"/>
          <p:cNvSpPr>
            <a:spLocks noChangeArrowheads="1"/>
          </p:cNvSpPr>
          <p:nvPr/>
        </p:nvSpPr>
        <p:spPr bwMode="auto">
          <a:xfrm>
            <a:off x="-36513" y="2409825"/>
            <a:ext cx="4464051" cy="1470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项目运维与质量保障</a:t>
            </a:r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fontAlgn="auto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等腰三角形 5"/>
          <p:cNvSpPr/>
          <p:nvPr/>
        </p:nvSpPr>
        <p:spPr>
          <a:xfrm rot="5400000">
            <a:off x="55563" y="3563938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/>
          </a:p>
        </p:txBody>
      </p:sp>
      <p:sp>
        <p:nvSpPr>
          <p:cNvPr id="8" name="矩形 7"/>
          <p:cNvSpPr/>
          <p:nvPr/>
        </p:nvSpPr>
        <p:spPr>
          <a:xfrm>
            <a:off x="395288" y="3068638"/>
            <a:ext cx="3168650" cy="2238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pic>
        <p:nvPicPr>
          <p:cNvPr id="2" name="图片 1" descr="微信图片_20260610102114_862_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365" cy="5143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l="-18327" t="-11122" r="-3336" b="-10730"/>
          <a:stretch>
            <a:fillRect/>
          </a:stretch>
        </p:blipFill>
        <p:spPr>
          <a:xfrm>
            <a:off x="3851910" y="3147695"/>
            <a:ext cx="5256530" cy="157924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376420" y="46596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后端开发使用</a:t>
            </a:r>
            <a:r>
              <a:rPr lang="en-US" altLang="zh-CN"/>
              <a:t>apifox</a:t>
            </a:r>
            <a:endParaRPr lang="en-US" altLang="zh-C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-36195" y="51435"/>
            <a:ext cx="1725930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项目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安全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71525"/>
            <a:ext cx="2976880" cy="389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buClrTx/>
              <a:buSzTx/>
              <a:buNone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JWT密钥管理deepseek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，千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问。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  <a:p>
            <a:pPr marL="0" algn="l">
              <a:buClrTx/>
              <a:buSzTx/>
              <a:buNone/>
            </a:pP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1203325"/>
            <a:ext cx="4237355" cy="25698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644390" y="748030"/>
            <a:ext cx="293751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buClrTx/>
              <a:buSzTx/>
              <a:buNone/>
            </a:pP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密码存储采用bcrypt哈希。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60290" y="1995805"/>
            <a:ext cx="2937510" cy="3543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algn="l">
              <a:buClrTx/>
              <a:buSzTx/>
              <a:buNone/>
            </a:pP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r="25307"/>
          <a:stretch>
            <a:fillRect/>
          </a:stretch>
        </p:blipFill>
        <p:spPr>
          <a:xfrm>
            <a:off x="4644390" y="1160780"/>
            <a:ext cx="4366895" cy="332613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9705" y="3867785"/>
            <a:ext cx="4010025" cy="433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JWT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签名使用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HS256（HMAC-SHA256）加密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411480"/>
            <a:ext cx="315785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软件测试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与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CI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测试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070" y="1059815"/>
            <a:ext cx="6452870" cy="328041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03575" y="51435"/>
            <a:ext cx="581088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CI</a:t>
            </a: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加入</a:t>
            </a:r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Security Scan ，Gitleaks 密钥泄露扫描功能和CodeQL静态代码分析（每周一）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" y="4084320"/>
            <a:ext cx="5960745" cy="9372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890" y="987425"/>
            <a:ext cx="3298825" cy="32816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165" y="2715895"/>
            <a:ext cx="3892550" cy="22974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225165" y="602615"/>
            <a:ext cx="57892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GitHub Actions 自动跑测试、安全扫描、上报 Codecov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51435"/>
            <a:ext cx="743775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Dependabot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自动更新依赖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与结构化日志管理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36195" y="4300220"/>
            <a:ext cx="4811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</a:rPr>
              <a:t>Dependabot 自动依赖更新，经 CI 验证后合并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630555"/>
            <a:ext cx="4838700" cy="271399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655" y="630555"/>
            <a:ext cx="3667125" cy="137985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010410"/>
            <a:ext cx="2742565" cy="216662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652010" y="4227830"/>
            <a:ext cx="44329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{"time":"...","level":"INFO","module":"Runing","message":"GPS batch uploaded"}</a:t>
            </a:r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  <a:p>
            <a:endParaRPr lang="en-US" altLang="zh-CN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0" y="3364230"/>
            <a:ext cx="4834255" cy="904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411480"/>
            <a:ext cx="595312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Docker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部署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与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Render </a:t>
            </a:r>
            <a:r>
              <a:rPr lang="en-US" altLang="zh-CN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云服务部署</a:t>
            </a:r>
            <a:endParaRPr lang="en-US" altLang="zh-CN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41492" b="1096"/>
          <a:stretch>
            <a:fillRect/>
          </a:stretch>
        </p:blipFill>
        <p:spPr>
          <a:xfrm>
            <a:off x="107950" y="1203325"/>
            <a:ext cx="4156710" cy="3078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11800" b="-1329"/>
          <a:stretch>
            <a:fillRect/>
          </a:stretch>
        </p:blipFill>
        <p:spPr>
          <a:xfrm>
            <a:off x="4356100" y="1203325"/>
            <a:ext cx="4380865" cy="32670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51460" y="4587875"/>
            <a:ext cx="58604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sym typeface="+mn-ea"/>
              </a:rPr>
              <a:t>Docker 多阶段构建（构建镜像大 → 运行镜像小）</a:t>
            </a:r>
            <a:endParaRPr lang="zh-CN" altLang="en-US" sz="1600" b="1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斜纹 1"/>
          <p:cNvSpPr/>
          <p:nvPr/>
        </p:nvSpPr>
        <p:spPr>
          <a:xfrm flipH="1">
            <a:off x="6443663" y="0"/>
            <a:ext cx="2700337" cy="1851025"/>
          </a:xfrm>
          <a:prstGeom prst="diagStripe">
            <a:avLst>
              <a:gd name="adj" fmla="val 38214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标题 1"/>
          <p:cNvSpPr txBox="1"/>
          <p:nvPr/>
        </p:nvSpPr>
        <p:spPr>
          <a:xfrm>
            <a:off x="0" y="51435"/>
            <a:ext cx="1762125" cy="579120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/>
          <a:p>
            <a:pPr algn="l" fontAlgn="auto">
              <a:spcAft>
                <a:spcPts val="0"/>
              </a:spcAft>
              <a:buFontTx/>
              <a:buNone/>
              <a:defRPr/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视频</a:t>
            </a: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展示</a:t>
            </a:r>
            <a:endParaRPr lang="zh-CN" altLang="en-US" sz="2800" b="1" dirty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57985" y="175387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见附录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1728" y="2174875"/>
            <a:ext cx="2636837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dist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3600" b="1" kern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 panose="020B0503020204020204" pitchFamily="34" charset="-122"/>
              </a:rPr>
              <a:t>ON THE WAY</a:t>
            </a:r>
            <a:endParaRPr lang="en-US" altLang="zh-CN" sz="3600" b="1" kern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84213" y="2819400"/>
            <a:ext cx="7488237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0075" y="2951163"/>
            <a:ext cx="3633788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dist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zh-CN" sz="4000" b="1" kern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微软雅黑" panose="020B0503020204020204" pitchFamily="34" charset="-122"/>
              </a:rPr>
              <a:t>THANK YOU</a:t>
            </a:r>
            <a:endParaRPr lang="en-US" altLang="zh-CN" sz="4000" b="1" kern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 rot="10800000">
            <a:off x="7816850" y="2924175"/>
            <a:ext cx="355600" cy="10795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84213" y="3659188"/>
            <a:ext cx="3168650" cy="2238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lang="zh-CN" altLang="en-US" sz="16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9595" y="1611630"/>
            <a:ext cx="4363720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800" noProof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MoveUp</a:t>
            </a:r>
            <a:endParaRPr lang="en-US" altLang="zh-CN" sz="8800" noProof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ww.freeppt7.com-Best PPT templates for free downloa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1899</Words>
  <Application>WPS 演示</Application>
  <PresentationFormat>全屏显示(16:9)</PresentationFormat>
  <Paragraphs>164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Arial Black</vt:lpstr>
      <vt:lpstr>微软雅黑</vt:lpstr>
      <vt:lpstr>Arial Narrow</vt:lpstr>
      <vt:lpstr>Arial Unicode MS</vt:lpstr>
      <vt:lpstr>www.freeppt7.com-Best PPT templates for free download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侧画眉油沐晴</cp:lastModifiedBy>
  <cp:revision>60</cp:revision>
  <dcterms:created xsi:type="dcterms:W3CDTF">2013-03-26T09:19:00Z</dcterms:created>
  <dcterms:modified xsi:type="dcterms:W3CDTF">2026-06-18T06:11:10Z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28891EA8E8A0474FB9806016DC0A8390_12</vt:lpwstr>
  </property>
</Properties>
</file>